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Medium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Outfit" panose="020B0604020202020204" charset="0"/>
      <p:regular r:id="rId25"/>
      <p:bold r:id="rId26"/>
    </p:embeddedFont>
    <p:embeddedFont>
      <p:font typeface="Outfit ExtraBold" panose="020B0604020202020204" charset="0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4" y="24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24500" y="571500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50506" y="2000250"/>
            <a:ext cx="7890986" cy="9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Intelligent Application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85975" y="4019550"/>
            <a:ext cx="8020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00509D"/>
                </a:solidFill>
                <a:latin typeface="Inter Medium"/>
                <a:ea typeface="Inter Medium"/>
                <a:cs typeface="Inter Medium"/>
                <a:sym typeface="Inter Medium"/>
              </a:rPr>
              <a:t>Building a CNN for Handwritten Digit Recognition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3714750" y="5004345"/>
            <a:ext cx="4762500" cy="381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148137" y="5537745"/>
            <a:ext cx="38957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Zehra KOLAT | Student ID: 206001007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705225" y="6212085"/>
            <a:ext cx="47815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Introduction to Large Language Models | Istinye University</a:t>
            </a:r>
            <a:endParaRPr/>
          </a:p>
        </p:txBody>
      </p:sp>
      <p:pic>
        <p:nvPicPr>
          <p:cNvPr id="91" name="Google Shape;91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0" y="762000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286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2382291"/>
            <a:ext cx="550068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Can a machine "see" numbers?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57950" y="2028825"/>
            <a:ext cx="508635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95350" y="3001416"/>
            <a:ext cx="49149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Goal: Classify handwritten digits (0-9).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95350" y="3485257"/>
            <a:ext cx="49149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Complexity: Different handwriting styles and thicknesses.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95350" y="4262437"/>
            <a:ext cx="49149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Solution: Use </a:t>
            </a:r>
            <a:r>
              <a:rPr lang="en-US" sz="16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Convolutional Neural Networks (CNN)</a:t>
            </a: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to extract visual features automatically.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04427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52811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05300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171575" y="571500"/>
            <a:ext cx="1097137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The Challenge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1143000"/>
            <a:ext cx="7115175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2625"/>
            <a:ext cx="3524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952625"/>
            <a:ext cx="3524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1952625"/>
            <a:ext cx="3524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6286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952500" y="3095625"/>
            <a:ext cx="290036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Track 2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52500" y="3638550"/>
            <a:ext cx="27622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Focused on </a:t>
            </a:r>
            <a:r>
              <a:rPr lang="en-US" sz="16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Computer Vision</a:t>
            </a: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and deep learning implementations.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714875" y="3095625"/>
            <a:ext cx="290036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Dataset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714875" y="3638550"/>
            <a:ext cx="276225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Using the </a:t>
            </a:r>
            <a:r>
              <a:rPr lang="en-US" sz="16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MNIST</a:t>
            </a: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benchmark with 60,000 images split into Train/Val/Test sets.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77250" y="3095625"/>
            <a:ext cx="290036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Framework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477250" y="3638550"/>
            <a:ext cx="27622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Built with </a:t>
            </a:r>
            <a:r>
              <a:rPr lang="en-US" sz="16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PyTorch</a:t>
            </a: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using modern layers like Conv2d and Dropout.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3717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14875" y="2371725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7250" y="2371725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1171575" y="571500"/>
            <a:ext cx="1097137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Chosen Track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1143000"/>
            <a:ext cx="729615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286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title="Ekran görüntüsü 2026-04-06 161211.png"/>
          <p:cNvPicPr preferRelativeResize="0"/>
          <p:nvPr/>
        </p:nvPicPr>
        <p:blipFill rotWithShape="1">
          <a:blip r:embed="rId6">
            <a:alphaModFix/>
          </a:blip>
          <a:srcRect t="3254" b="3254"/>
          <a:stretch/>
        </p:blipFill>
        <p:spPr>
          <a:xfrm>
            <a:off x="571500" y="1700200"/>
            <a:ext cx="5193925" cy="39862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6381750" y="2398514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Before training, the data goes through 3 essential steps: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238875" y="3193792"/>
            <a:ext cx="1428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381750" y="3194744"/>
            <a:ext cx="5238900" cy="5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1. Normalization: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Adjusting pixel values for faster learning (Mean: 0.1307, Std: 0.3081).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200775" y="3970972"/>
            <a:ext cx="1809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381750" y="3971925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2. Splitting: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60% Train, 20% Val, 20% Test to ensure the model generalizes.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191250" y="4748152"/>
            <a:ext cx="1905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381750" y="4749105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3. Batching: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Loading 64 images at a time for stable gradient updates.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285875" y="571500"/>
            <a:ext cx="1085135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Data Preparation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71500" y="1143000"/>
            <a:ext cx="626745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96355"/>
            <a:ext cx="35242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796355"/>
            <a:ext cx="35242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1796355"/>
            <a:ext cx="35242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62865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71500" y="541585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C5A059"/>
                </a:solidFill>
                <a:latin typeface="Inter"/>
                <a:ea typeface="Inter"/>
                <a:cs typeface="Inter"/>
                <a:sym typeface="Inter"/>
              </a:rPr>
              <a:t>Regularization: 50% Dropout used to prevent overfitting.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52500" y="2379910"/>
            <a:ext cx="290036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Feature Extraction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52500" y="2772965"/>
            <a:ext cx="276225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Two </a:t>
            </a:r>
            <a:r>
              <a:rPr lang="en-US" sz="13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Convolutional Layers</a:t>
            </a:r>
            <a:r>
              <a:rPr lang="en-US" sz="13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(32 &amp; 64 filters) to detect lines and curves.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4714875" y="2379910"/>
            <a:ext cx="290036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Downsampling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4714875" y="2772965"/>
            <a:ext cx="276225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Max Pooling</a:t>
            </a:r>
            <a:r>
              <a:rPr lang="en-US" sz="13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layers to reduce spatial size and focus on the most important pixels.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477250" y="2379910"/>
            <a:ext cx="290036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Classification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477250" y="2772965"/>
            <a:ext cx="27622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Two </a:t>
            </a:r>
            <a:r>
              <a:rPr lang="en-US" sz="13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Fully Connected</a:t>
            </a:r>
            <a:r>
              <a:rPr lang="en-US" sz="13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layers that map features to the final 10 digits.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228725" y="571500"/>
            <a:ext cx="1091136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The Model "Brain"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1143000"/>
            <a:ext cx="622935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194298"/>
            <a:ext cx="5238750" cy="1326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2865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500" y="2596604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How the model improves over time: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677025" y="3692128"/>
            <a:ext cx="48806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Learning Update Rule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3099494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Optimizer: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Adam (Adaptive Learning Rate).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3583334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Loss: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Cross-Entropy (Measures prediction error).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4067175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Strategy: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Backpropagation via the Chain Rule.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571500" y="4551015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Safety: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Early Stopping stops training if the model stops improving.</a:t>
            </a:r>
            <a:endParaRPr/>
          </a:p>
        </p:txBody>
      </p:sp>
      <p:pic>
        <p:nvPicPr>
          <p:cNvPr id="177" name="Google Shape;17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4073128"/>
            <a:ext cx="46482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1285875" y="571500"/>
            <a:ext cx="1085135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The Training Loop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571500" y="1143000"/>
            <a:ext cx="622935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24967"/>
            <a:ext cx="5238750" cy="3465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286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1047750" y="2696467"/>
            <a:ext cx="42862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TEST ACCURACY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1047750" y="3067942"/>
            <a:ext cx="42862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0" i="0" u="none" strike="noStrike" cap="none">
                <a:solidFill>
                  <a:srgbClr val="C5A059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99.15%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1047750" y="4610992"/>
            <a:ext cx="42862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 of 10,000 images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381750" y="2988915"/>
            <a:ext cx="55006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Why is this great?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381750" y="3427065"/>
            <a:ext cx="523875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Our model reached peak performance in just </a:t>
            </a:r>
            <a:r>
              <a:rPr lang="tr-TR" sz="1650" b="1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r>
              <a:rPr lang="en-US" sz="16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 epochs</a:t>
            </a: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650" b="0" i="0" u="none" strike="noStrike" cap="none" dirty="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It is highly robust across all classes (0-9).</a:t>
            </a:r>
            <a:endParaRPr dirty="0"/>
          </a:p>
        </p:txBody>
      </p:sp>
      <p:sp>
        <p:nvSpPr>
          <p:cNvPr id="192" name="Google Shape;192;p19"/>
          <p:cNvSpPr txBox="1"/>
          <p:nvPr/>
        </p:nvSpPr>
        <p:spPr>
          <a:xfrm>
            <a:off x="6381750" y="4223295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Weighted F1-Score: 0.99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171575" y="571500"/>
            <a:ext cx="1097137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Final Results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71500" y="1143000"/>
            <a:ext cx="7477125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286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title="wrong prediction.png"/>
          <p:cNvPicPr preferRelativeResize="0"/>
          <p:nvPr/>
        </p:nvPicPr>
        <p:blipFill rotWithShape="1">
          <a:blip r:embed="rId6">
            <a:alphaModFix/>
          </a:blip>
          <a:srcRect t="16954" b="16948"/>
          <a:stretch/>
        </p:blipFill>
        <p:spPr>
          <a:xfrm>
            <a:off x="647700" y="2028825"/>
            <a:ext cx="5086350" cy="36576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6381750" y="2550914"/>
            <a:ext cx="55006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Where did it struggle?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381750" y="2989064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16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Confusion Matrix</a:t>
            </a: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shows that errors are rare, but when they happen, they involve: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381750" y="4752975"/>
            <a:ext cx="52387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Overall, the model is near-human performance on this task.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734175" y="3785294"/>
            <a:ext cx="48863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4 vs 9: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Similar loop structures.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734175" y="4269134"/>
            <a:ext cx="48863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2 vs 7: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 Some handwritten styles look alike.</a:t>
            </a:r>
            <a:endParaRPr/>
          </a:p>
        </p:txBody>
      </p:sp>
      <p:pic>
        <p:nvPicPr>
          <p:cNvPr id="208" name="Google Shape;20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82815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4311997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1171575" y="571500"/>
            <a:ext cx="1097137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Error Analysis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1143000"/>
            <a:ext cx="7134225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2625"/>
            <a:ext cx="3524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952625"/>
            <a:ext cx="3524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1952625"/>
            <a:ext cx="3524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62865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952500" y="3095625"/>
            <a:ext cx="290036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Success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952500" y="3638550"/>
            <a:ext cx="276225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The CNN architecture is perfect for this task, extracting hierarchy of features automatically.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714875" y="3095625"/>
            <a:ext cx="290036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Generalization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4714875" y="3638550"/>
            <a:ext cx="276225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Regularization (Dropout) ensured the model works on unseen data, not just training data.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477250" y="3095625"/>
            <a:ext cx="290036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Scalability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8477250" y="3638550"/>
            <a:ext cx="276225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This same architecture can be scaled to recognize more complex objects (Cifar-10 or ImageNet).</a:t>
            </a:r>
            <a:endParaRPr/>
          </a:p>
        </p:txBody>
      </p:sp>
      <p:pic>
        <p:nvPicPr>
          <p:cNvPr id="227" name="Google Shape;22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3717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14875" y="2371725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7250" y="23717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1114425" y="571500"/>
            <a:ext cx="1103137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Conclusion</a:t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571500" y="1143000"/>
            <a:ext cx="78867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295275" y="1783109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3366"/>
                </a:solidFill>
                <a:latin typeface="Outfit"/>
                <a:ea typeface="Outfit"/>
                <a:cs typeface="Outfit"/>
                <a:sym typeface="Outfit"/>
              </a:rPr>
              <a:t>Thank You!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571500" y="4572000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Zehra KOLAT | 2026 ISTINYE UNIVERSITY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3409950" y="3497609"/>
            <a:ext cx="16859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Code Repository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5572125" y="3497609"/>
            <a:ext cx="16478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2-Min Pitch Link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7696200" y="3497609"/>
            <a:ext cx="10858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Full Report</a:t>
            </a:r>
            <a:endParaRPr/>
          </a:p>
        </p:txBody>
      </p:sp>
      <p:pic>
        <p:nvPicPr>
          <p:cNvPr id="242" name="Google Shape;24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7175" y="2973734"/>
            <a:ext cx="3714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1725" y="2973734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48625" y="2973734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</Words>
  <Application>Microsoft Office PowerPoint</Application>
  <PresentationFormat>Geniş ekran</PresentationFormat>
  <Paragraphs>64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8" baseType="lpstr">
      <vt:lpstr>Inter Medium</vt:lpstr>
      <vt:lpstr>Inter SemiBold</vt:lpstr>
      <vt:lpstr>Outfit</vt:lpstr>
      <vt:lpstr>Arial</vt:lpstr>
      <vt:lpstr>Calibri</vt:lpstr>
      <vt:lpstr>Inter</vt:lpstr>
      <vt:lpstr>Outfit ExtraBold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zehra kolat</dc:creator>
  <cp:lastModifiedBy>zehra kolat</cp:lastModifiedBy>
  <cp:revision>1</cp:revision>
  <dcterms:modified xsi:type="dcterms:W3CDTF">2026-04-06T13:27:19Z</dcterms:modified>
</cp:coreProperties>
</file>